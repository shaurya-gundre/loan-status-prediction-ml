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7" r:id="rId7"/>
    <p:sldId id="261" r:id="rId8"/>
    <p:sldId id="262" r:id="rId9"/>
    <p:sldId id="263" r:id="rId10"/>
    <p:sldId id="264" r:id="rId11"/>
    <p:sldId id="265" r:id="rId12"/>
    <p:sldId id="266" r:id="rId13"/>
  </p:sldIdLst>
  <p:sldSz cx="18288000" cy="10287000"/>
  <p:notesSz cx="6858000" cy="9144000"/>
  <p:embeddedFontLst>
    <p:embeddedFont>
      <p:font typeface="HK Modular" panose="020B0604020202020204" charset="0"/>
      <p:regular r:id="rId14"/>
    </p:embeddedFont>
    <p:embeddedFont>
      <p:font typeface="Mokoto" panose="020B0604020202020204" charset="0"/>
      <p:regular r:id="rId15"/>
    </p:embeddedFont>
    <p:embeddedFont>
      <p:font typeface="Montserrat Heavy" panose="020B0604020202020204" charset="0"/>
      <p:regular r:id="rId16"/>
    </p:embeddedFont>
    <p:embeddedFont>
      <p:font typeface="Montserrat Semi-Bold" panose="020B0604020202020204" charset="0"/>
      <p:regular r:id="rId17"/>
    </p:embeddedFont>
    <p:embeddedFont>
      <p:font typeface="Raleway Italics" panose="020B0604020202020204" charset="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8" d="100"/>
          <a:sy n="68" d="100"/>
        </p:scale>
        <p:origin x="380" y="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3.sv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14.png"/><Relationship Id="rId4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3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3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3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32A64">
                <a:alpha val="100000"/>
              </a:srgbClr>
            </a:gs>
            <a:gs pos="100000">
              <a:srgbClr val="414C94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756814" y="-403607"/>
            <a:ext cx="6531186" cy="11641778"/>
            <a:chOff x="0" y="0"/>
            <a:chExt cx="1720148" cy="306614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20148" cy="3066147"/>
            </a:xfrm>
            <a:custGeom>
              <a:avLst/>
              <a:gdLst/>
              <a:ahLst/>
              <a:cxnLst/>
              <a:rect l="l" t="t" r="r" b="b"/>
              <a:pathLst>
                <a:path w="1720148" h="3066147">
                  <a:moveTo>
                    <a:pt x="0" y="0"/>
                  </a:moveTo>
                  <a:lnTo>
                    <a:pt x="1720148" y="0"/>
                  </a:lnTo>
                  <a:lnTo>
                    <a:pt x="1720148" y="3066147"/>
                  </a:lnTo>
                  <a:lnTo>
                    <a:pt x="0" y="3066147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0"/>
                  </a:srgbClr>
                </a:gs>
                <a:gs pos="100000">
                  <a:srgbClr val="00000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720148" cy="310424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83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674092">
            <a:off x="-3513169" y="8339629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0"/>
                </a:moveTo>
                <a:lnTo>
                  <a:pt x="19149891" y="0"/>
                </a:lnTo>
                <a:lnTo>
                  <a:pt x="19149891" y="6989710"/>
                </a:lnTo>
                <a:lnTo>
                  <a:pt x="0" y="69897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Freeform 6"/>
          <p:cNvSpPr/>
          <p:nvPr/>
        </p:nvSpPr>
        <p:spPr>
          <a:xfrm rot="828919" flipH="1" flipV="1">
            <a:off x="1076036" y="-4819412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19149891" y="6989710"/>
                </a:moveTo>
                <a:lnTo>
                  <a:pt x="0" y="6989710"/>
                </a:lnTo>
                <a:lnTo>
                  <a:pt x="0" y="0"/>
                </a:lnTo>
                <a:lnTo>
                  <a:pt x="19149891" y="0"/>
                </a:lnTo>
                <a:lnTo>
                  <a:pt x="19149891" y="6989710"/>
                </a:lnTo>
                <a:close/>
              </a:path>
            </a:pathLst>
          </a:custGeom>
          <a:blipFill>
            <a:blip r:embed="rId2">
              <a:alphaModFix amt="43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Freeform 7"/>
          <p:cNvSpPr/>
          <p:nvPr/>
        </p:nvSpPr>
        <p:spPr>
          <a:xfrm>
            <a:off x="2076543" y="1776216"/>
            <a:ext cx="658167" cy="595940"/>
          </a:xfrm>
          <a:custGeom>
            <a:avLst/>
            <a:gdLst/>
            <a:ahLst/>
            <a:cxnLst/>
            <a:rect l="l" t="t" r="r" b="b"/>
            <a:pathLst>
              <a:path w="658167" h="595940">
                <a:moveTo>
                  <a:pt x="0" y="0"/>
                </a:moveTo>
                <a:lnTo>
                  <a:pt x="658167" y="0"/>
                </a:lnTo>
                <a:lnTo>
                  <a:pt x="658167" y="595940"/>
                </a:lnTo>
                <a:lnTo>
                  <a:pt x="0" y="59594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8" name="TextBox 8"/>
          <p:cNvSpPr txBox="1"/>
          <p:nvPr/>
        </p:nvSpPr>
        <p:spPr>
          <a:xfrm>
            <a:off x="2076543" y="3287604"/>
            <a:ext cx="9506012" cy="28563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75"/>
              </a:lnSpc>
            </a:pPr>
            <a:r>
              <a:rPr lang="en-US" sz="7763" b="1">
                <a:solidFill>
                  <a:srgbClr val="FFFFFF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Loan Status Prediction Using Machine Learning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076543" y="8007116"/>
            <a:ext cx="5482510" cy="917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4"/>
              </a:lnSpc>
            </a:pPr>
            <a:r>
              <a:rPr lang="en-US" sz="2499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Submitted by: Shaurya Gundre</a:t>
            </a:r>
          </a:p>
          <a:p>
            <a:pPr algn="l">
              <a:lnSpc>
                <a:spcPts val="2374"/>
              </a:lnSpc>
            </a:pPr>
            <a:r>
              <a:rPr lang="en-US" sz="2499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Internship Project</a:t>
            </a:r>
          </a:p>
          <a:p>
            <a:pPr algn="l">
              <a:lnSpc>
                <a:spcPts val="2374"/>
              </a:lnSpc>
            </a:pPr>
            <a:r>
              <a:rPr lang="en-US" sz="2499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March 2026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87202" y="6648770"/>
            <a:ext cx="17313597" cy="365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  <a:spcBef>
                <a:spcPct val="0"/>
              </a:spcBef>
            </a:pPr>
            <a:r>
              <a:rPr lang="en-US" sz="2100" spc="140">
                <a:solidFill>
                  <a:srgbClr val="FFFFFF"/>
                </a:solidFill>
                <a:latin typeface="HK Modular"/>
                <a:ea typeface="HK Modular"/>
                <a:cs typeface="HK Modular"/>
                <a:sym typeface="HK Modular"/>
              </a:rPr>
              <a:t>P</a:t>
            </a:r>
            <a:r>
              <a:rPr lang="en-US" sz="2100" b="1" spc="140">
                <a:solidFill>
                  <a:srgbClr val="FFFFFF"/>
                </a:solidFill>
                <a:latin typeface="HK Modular"/>
                <a:ea typeface="HK Modular"/>
                <a:cs typeface="HK Modular"/>
                <a:sym typeface="HK Modular"/>
              </a:rPr>
              <a:t>REDICTING LOAN APPROVAL BASED ON APPLICANT INFORMATION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32A64">
                <a:alpha val="100000"/>
              </a:srgbClr>
            </a:gs>
            <a:gs pos="100000">
              <a:srgbClr val="414C94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1572293">
            <a:off x="-5799371" y="6668368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0"/>
                </a:moveTo>
                <a:lnTo>
                  <a:pt x="19149891" y="0"/>
                </a:lnTo>
                <a:lnTo>
                  <a:pt x="19149891" y="6989710"/>
                </a:lnTo>
                <a:lnTo>
                  <a:pt x="0" y="69897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2052822" y="3071015"/>
            <a:ext cx="3970782" cy="8229600"/>
          </a:xfrm>
          <a:custGeom>
            <a:avLst/>
            <a:gdLst/>
            <a:ahLst/>
            <a:cxnLst/>
            <a:rect l="l" t="t" r="r" b="b"/>
            <a:pathLst>
              <a:path w="3970782" h="8229600">
                <a:moveTo>
                  <a:pt x="0" y="0"/>
                </a:moveTo>
                <a:lnTo>
                  <a:pt x="3970782" y="0"/>
                </a:lnTo>
                <a:lnTo>
                  <a:pt x="397078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3775575" y="2080415"/>
            <a:ext cx="2691369" cy="2691369"/>
          </a:xfrm>
          <a:custGeom>
            <a:avLst/>
            <a:gdLst/>
            <a:ahLst/>
            <a:cxnLst/>
            <a:rect l="l" t="t" r="r" b="b"/>
            <a:pathLst>
              <a:path w="2691369" h="2691369">
                <a:moveTo>
                  <a:pt x="0" y="0"/>
                </a:moveTo>
                <a:lnTo>
                  <a:pt x="2691368" y="0"/>
                </a:lnTo>
                <a:lnTo>
                  <a:pt x="2691368" y="2691368"/>
                </a:lnTo>
                <a:lnTo>
                  <a:pt x="0" y="269136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Freeform 5"/>
          <p:cNvSpPr/>
          <p:nvPr/>
        </p:nvSpPr>
        <p:spPr>
          <a:xfrm rot="1572293" flipV="1">
            <a:off x="8920761" y="-3494855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6989710"/>
                </a:moveTo>
                <a:lnTo>
                  <a:pt x="19149891" y="6989710"/>
                </a:lnTo>
                <a:lnTo>
                  <a:pt x="19149891" y="0"/>
                </a:lnTo>
                <a:lnTo>
                  <a:pt x="0" y="0"/>
                </a:lnTo>
                <a:lnTo>
                  <a:pt x="0" y="6989710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Freeform 6"/>
          <p:cNvSpPr/>
          <p:nvPr/>
        </p:nvSpPr>
        <p:spPr>
          <a:xfrm>
            <a:off x="7871589" y="1776216"/>
            <a:ext cx="658167" cy="595940"/>
          </a:xfrm>
          <a:custGeom>
            <a:avLst/>
            <a:gdLst/>
            <a:ahLst/>
            <a:cxnLst/>
            <a:rect l="l" t="t" r="r" b="b"/>
            <a:pathLst>
              <a:path w="658167" h="595940">
                <a:moveTo>
                  <a:pt x="0" y="0"/>
                </a:moveTo>
                <a:lnTo>
                  <a:pt x="658167" y="0"/>
                </a:lnTo>
                <a:lnTo>
                  <a:pt x="658167" y="595940"/>
                </a:lnTo>
                <a:lnTo>
                  <a:pt x="0" y="5959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TextBox 7"/>
          <p:cNvSpPr txBox="1"/>
          <p:nvPr/>
        </p:nvSpPr>
        <p:spPr>
          <a:xfrm>
            <a:off x="7945523" y="3142290"/>
            <a:ext cx="7366041" cy="1117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359"/>
              </a:lnSpc>
            </a:pPr>
            <a:r>
              <a:rPr lang="en-US" sz="8799" b="1" dirty="0">
                <a:solidFill>
                  <a:srgbClr val="FFFFFF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Introduction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945523" y="4587246"/>
            <a:ext cx="8533572" cy="293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Loan approval is an important financial decision.</a:t>
            </a:r>
          </a:p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Banks must evaluate applicant details before approving loans.</a:t>
            </a:r>
          </a:p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Manual evaluation takes time and may lead to errors.</a:t>
            </a:r>
          </a:p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Machine Learning can automate and improve prediction accuracy.</a:t>
            </a:r>
          </a:p>
          <a:p>
            <a:pPr algn="l">
              <a:lnSpc>
                <a:spcPts val="3319"/>
              </a:lnSpc>
            </a:pPr>
            <a:endParaRPr lang="en-US" sz="2573" i="1" dirty="0">
              <a:solidFill>
                <a:srgbClr val="FFFFFF"/>
              </a:solidFill>
              <a:latin typeface="Raleway Italics"/>
              <a:ea typeface="Raleway Italics"/>
              <a:cs typeface="Raleway Italics"/>
              <a:sym typeface="Raleway Italic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300724" y="1599114"/>
            <a:ext cx="1074675" cy="5157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7"/>
              </a:lnSpc>
            </a:pPr>
            <a:r>
              <a:rPr lang="en-US" sz="3145">
                <a:solidFill>
                  <a:srgbClr val="FFFFFF"/>
                </a:solidFill>
                <a:latin typeface="Mokoto"/>
                <a:ea typeface="Mokoto"/>
                <a:cs typeface="Mokoto"/>
                <a:sym typeface="Mok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361B70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14761">
            <a:off x="5680419" y="6404287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0"/>
                </a:moveTo>
                <a:lnTo>
                  <a:pt x="19149891" y="0"/>
                </a:lnTo>
                <a:lnTo>
                  <a:pt x="19149891" y="6989711"/>
                </a:lnTo>
                <a:lnTo>
                  <a:pt x="0" y="69897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 rot="1572293" flipV="1">
            <a:off x="3960635" y="-5525403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6989711"/>
                </a:moveTo>
                <a:lnTo>
                  <a:pt x="19149891" y="6989711"/>
                </a:lnTo>
                <a:lnTo>
                  <a:pt x="19149891" y="0"/>
                </a:lnTo>
                <a:lnTo>
                  <a:pt x="0" y="0"/>
                </a:lnTo>
                <a:lnTo>
                  <a:pt x="0" y="6989711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7434481" y="730730"/>
            <a:ext cx="658167" cy="595940"/>
          </a:xfrm>
          <a:custGeom>
            <a:avLst/>
            <a:gdLst/>
            <a:ahLst/>
            <a:cxnLst/>
            <a:rect l="l" t="t" r="r" b="b"/>
            <a:pathLst>
              <a:path w="658167" h="595940">
                <a:moveTo>
                  <a:pt x="0" y="0"/>
                </a:moveTo>
                <a:lnTo>
                  <a:pt x="658167" y="0"/>
                </a:lnTo>
                <a:lnTo>
                  <a:pt x="658167" y="595940"/>
                </a:lnTo>
                <a:lnTo>
                  <a:pt x="0" y="59594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4002254" y="1856289"/>
            <a:ext cx="10283492" cy="428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59"/>
              </a:lnSpc>
            </a:pPr>
            <a:r>
              <a:rPr lang="en-US" sz="8799" b="1">
                <a:solidFill>
                  <a:srgbClr val="36E9F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Problem Statement</a:t>
            </a:r>
          </a:p>
          <a:p>
            <a:pPr marL="1899915" lvl="1" indent="-949957" algn="ctr">
              <a:lnSpc>
                <a:spcPts val="8359"/>
              </a:lnSpc>
              <a:buFont typeface="Arial"/>
              <a:buChar char="•"/>
            </a:pPr>
            <a:endParaRPr lang="en-US" sz="8799" b="1">
              <a:solidFill>
                <a:srgbClr val="36E9FD"/>
              </a:solidFill>
              <a:latin typeface="Montserrat Semi-Bold"/>
              <a:ea typeface="Montserrat Semi-Bold"/>
              <a:cs typeface="Montserrat Semi-Bold"/>
              <a:sym typeface="Montserrat Semi-Bold"/>
            </a:endParaRPr>
          </a:p>
          <a:p>
            <a:pPr algn="ctr">
              <a:lnSpc>
                <a:spcPts val="8359"/>
              </a:lnSpc>
            </a:pPr>
            <a:endParaRPr lang="en-US" sz="8799" b="1">
              <a:solidFill>
                <a:srgbClr val="36E9FD"/>
              </a:solidFill>
              <a:latin typeface="Montserrat Semi-Bold"/>
              <a:ea typeface="Montserrat Semi-Bold"/>
              <a:cs typeface="Montserrat Semi-Bold"/>
              <a:sym typeface="Montserrat Semi-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2890961" y="4189200"/>
            <a:ext cx="12506077" cy="4190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55638" lvl="1" indent="-277819" algn="ctr">
              <a:lnSpc>
                <a:spcPts val="3319"/>
              </a:lnSpc>
              <a:buFont typeface="Arial"/>
              <a:buChar char="•"/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To predict whether a loan will be approved or not.</a:t>
            </a:r>
          </a:p>
          <a:p>
            <a:pPr algn="ctr">
              <a:lnSpc>
                <a:spcPts val="3319"/>
              </a:lnSpc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Based on applicant details such as:</a:t>
            </a:r>
          </a:p>
          <a:p>
            <a:pPr algn="ctr">
              <a:lnSpc>
                <a:spcPts val="3319"/>
              </a:lnSpc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Income</a:t>
            </a:r>
          </a:p>
          <a:p>
            <a:pPr algn="ctr">
              <a:lnSpc>
                <a:spcPts val="3319"/>
              </a:lnSpc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Credit history</a:t>
            </a:r>
          </a:p>
          <a:p>
            <a:pPr algn="ctr">
              <a:lnSpc>
                <a:spcPts val="3319"/>
              </a:lnSpc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Education</a:t>
            </a:r>
          </a:p>
          <a:p>
            <a:pPr algn="ctr">
              <a:lnSpc>
                <a:spcPts val="3319"/>
              </a:lnSpc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Employment status</a:t>
            </a:r>
          </a:p>
          <a:p>
            <a:pPr algn="ctr">
              <a:lnSpc>
                <a:spcPts val="3319"/>
              </a:lnSpc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Property area</a:t>
            </a:r>
          </a:p>
          <a:p>
            <a:pPr algn="ctr">
              <a:lnSpc>
                <a:spcPts val="3319"/>
              </a:lnSpc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Goal:</a:t>
            </a:r>
          </a:p>
          <a:p>
            <a:pPr algn="ctr">
              <a:lnSpc>
                <a:spcPts val="3319"/>
              </a:lnSpc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 Build a classification model to predict Loan_Status.</a:t>
            </a:r>
          </a:p>
          <a:p>
            <a:pPr algn="ctr">
              <a:lnSpc>
                <a:spcPts val="3319"/>
              </a:lnSpc>
            </a:pPr>
            <a:endParaRPr lang="en-US" sz="2573" i="1">
              <a:solidFill>
                <a:srgbClr val="FFFFFF"/>
              </a:solidFill>
              <a:latin typeface="Raleway Italics"/>
              <a:ea typeface="Raleway Italics"/>
              <a:cs typeface="Raleway Italics"/>
              <a:sym typeface="Raleway Italics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300724" y="1599114"/>
            <a:ext cx="1154372" cy="5157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7"/>
              </a:lnSpc>
            </a:pPr>
            <a:r>
              <a:rPr lang="en-US" sz="3145">
                <a:solidFill>
                  <a:srgbClr val="FFFFFF"/>
                </a:solidFill>
                <a:latin typeface="Mokoto"/>
                <a:ea typeface="Mokoto"/>
                <a:cs typeface="Mokoto"/>
                <a:sym typeface="Mok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32A64">
                <a:alpha val="100000"/>
              </a:srgbClr>
            </a:gs>
            <a:gs pos="100000">
              <a:srgbClr val="414C94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14761">
            <a:off x="5680419" y="6404287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0"/>
                </a:moveTo>
                <a:lnTo>
                  <a:pt x="19149891" y="0"/>
                </a:lnTo>
                <a:lnTo>
                  <a:pt x="19149891" y="6989711"/>
                </a:lnTo>
                <a:lnTo>
                  <a:pt x="0" y="69897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 rot="1572293" flipV="1">
            <a:off x="3960635" y="-5525403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6989711"/>
                </a:moveTo>
                <a:lnTo>
                  <a:pt x="19149891" y="6989711"/>
                </a:lnTo>
                <a:lnTo>
                  <a:pt x="19149891" y="0"/>
                </a:lnTo>
                <a:lnTo>
                  <a:pt x="0" y="0"/>
                </a:lnTo>
                <a:lnTo>
                  <a:pt x="0" y="6989711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7434481" y="1365543"/>
            <a:ext cx="658167" cy="595940"/>
          </a:xfrm>
          <a:custGeom>
            <a:avLst/>
            <a:gdLst/>
            <a:ahLst/>
            <a:cxnLst/>
            <a:rect l="l" t="t" r="r" b="b"/>
            <a:pathLst>
              <a:path w="658167" h="595940">
                <a:moveTo>
                  <a:pt x="0" y="0"/>
                </a:moveTo>
                <a:lnTo>
                  <a:pt x="658167" y="0"/>
                </a:lnTo>
                <a:lnTo>
                  <a:pt x="658167" y="595940"/>
                </a:lnTo>
                <a:lnTo>
                  <a:pt x="0" y="59594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Freeform 5"/>
          <p:cNvSpPr/>
          <p:nvPr/>
        </p:nvSpPr>
        <p:spPr>
          <a:xfrm>
            <a:off x="0" y="2378"/>
            <a:ext cx="1406485" cy="1406485"/>
          </a:xfrm>
          <a:custGeom>
            <a:avLst/>
            <a:gdLst/>
            <a:ahLst/>
            <a:cxnLst/>
            <a:rect l="l" t="t" r="r" b="b"/>
            <a:pathLst>
              <a:path w="1406485" h="1406485">
                <a:moveTo>
                  <a:pt x="0" y="0"/>
                </a:moveTo>
                <a:lnTo>
                  <a:pt x="1406485" y="0"/>
                </a:lnTo>
                <a:lnTo>
                  <a:pt x="1406485" y="1406485"/>
                </a:lnTo>
                <a:lnTo>
                  <a:pt x="0" y="140648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Freeform 6"/>
          <p:cNvSpPr/>
          <p:nvPr/>
        </p:nvSpPr>
        <p:spPr>
          <a:xfrm>
            <a:off x="0" y="8715057"/>
            <a:ext cx="1563369" cy="1571943"/>
          </a:xfrm>
          <a:custGeom>
            <a:avLst/>
            <a:gdLst/>
            <a:ahLst/>
            <a:cxnLst/>
            <a:rect l="l" t="t" r="r" b="b"/>
            <a:pathLst>
              <a:path w="1563369" h="1571943">
                <a:moveTo>
                  <a:pt x="0" y="0"/>
                </a:moveTo>
                <a:lnTo>
                  <a:pt x="1563369" y="0"/>
                </a:lnTo>
                <a:lnTo>
                  <a:pt x="1563369" y="1571943"/>
                </a:lnTo>
                <a:lnTo>
                  <a:pt x="0" y="157194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Freeform 7"/>
          <p:cNvSpPr/>
          <p:nvPr/>
        </p:nvSpPr>
        <p:spPr>
          <a:xfrm>
            <a:off x="16804572" y="8864362"/>
            <a:ext cx="1457906" cy="1434049"/>
          </a:xfrm>
          <a:custGeom>
            <a:avLst/>
            <a:gdLst/>
            <a:ahLst/>
            <a:cxnLst/>
            <a:rect l="l" t="t" r="r" b="b"/>
            <a:pathLst>
              <a:path w="1457906" h="1434049">
                <a:moveTo>
                  <a:pt x="0" y="0"/>
                </a:moveTo>
                <a:lnTo>
                  <a:pt x="1457906" y="0"/>
                </a:lnTo>
                <a:lnTo>
                  <a:pt x="1457906" y="1434050"/>
                </a:lnTo>
                <a:lnTo>
                  <a:pt x="0" y="143405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8" name="TextBox 8"/>
          <p:cNvSpPr txBox="1"/>
          <p:nvPr/>
        </p:nvSpPr>
        <p:spPr>
          <a:xfrm>
            <a:off x="1300724" y="1599114"/>
            <a:ext cx="1154372" cy="5157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7"/>
              </a:lnSpc>
            </a:pPr>
            <a:r>
              <a:rPr lang="en-US" sz="3145">
                <a:solidFill>
                  <a:srgbClr val="FFFFFF"/>
                </a:solidFill>
                <a:latin typeface="Mokoto"/>
                <a:ea typeface="Mokoto"/>
                <a:cs typeface="Mokoto"/>
                <a:sym typeface="Mokoto"/>
              </a:rPr>
              <a:t>04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392919" y="2333967"/>
            <a:ext cx="11985458" cy="1117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59"/>
              </a:lnSpc>
            </a:pPr>
            <a:r>
              <a:rPr lang="en-US" sz="8799" b="1">
                <a:solidFill>
                  <a:srgbClr val="FFFFFF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Dataset Information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-203870" y="4688723"/>
            <a:ext cx="6134216" cy="18709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0" lvl="1" indent="-259080" algn="ctr">
              <a:lnSpc>
                <a:spcPts val="3096"/>
              </a:lnSpc>
              <a:buFont typeface="Arial"/>
              <a:buChar char="•"/>
            </a:pPr>
            <a:r>
              <a:rPr lang="en-US" sz="2400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Dataset Name: Loan Prediction Dataset</a:t>
            </a:r>
          </a:p>
          <a:p>
            <a:pPr marL="518160" lvl="1" indent="-259080" algn="ctr">
              <a:lnSpc>
                <a:spcPts val="3096"/>
              </a:lnSpc>
              <a:buFont typeface="Arial"/>
              <a:buChar char="•"/>
            </a:pPr>
            <a:r>
              <a:rPr lang="en-US" sz="2400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Total Records: 614</a:t>
            </a:r>
          </a:p>
          <a:p>
            <a:pPr marL="518160" lvl="1" indent="-259080" algn="ctr">
              <a:lnSpc>
                <a:spcPts val="3096"/>
              </a:lnSpc>
              <a:buFont typeface="Arial"/>
              <a:buChar char="•"/>
            </a:pPr>
            <a:r>
              <a:rPr lang="en-US" sz="2400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Total Features: 13</a:t>
            </a:r>
          </a:p>
          <a:p>
            <a:pPr marL="518160" lvl="1" indent="-259080" algn="ctr">
              <a:lnSpc>
                <a:spcPts val="3096"/>
              </a:lnSpc>
              <a:buFont typeface="Arial"/>
              <a:buChar char="•"/>
            </a:pPr>
            <a:r>
              <a:rPr lang="en-US" sz="2400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Target Variable: Loan_Status</a:t>
            </a:r>
          </a:p>
          <a:p>
            <a:pPr algn="ctr">
              <a:lnSpc>
                <a:spcPts val="2432"/>
              </a:lnSpc>
            </a:pPr>
            <a:endParaRPr lang="en-US" sz="2400" i="1" dirty="0">
              <a:solidFill>
                <a:srgbClr val="FFFFFF"/>
              </a:solidFill>
              <a:latin typeface="Raleway Italics"/>
              <a:ea typeface="Raleway Italics"/>
              <a:cs typeface="Raleway Italics"/>
              <a:sym typeface="Raleway Italics"/>
            </a:endParaRPr>
          </a:p>
        </p:txBody>
      </p:sp>
      <p:grpSp>
        <p:nvGrpSpPr>
          <p:cNvPr id="11" name="Group 11"/>
          <p:cNvGrpSpPr/>
          <p:nvPr/>
        </p:nvGrpSpPr>
        <p:grpSpPr>
          <a:xfrm>
            <a:off x="13736551" y="3719086"/>
            <a:ext cx="4185064" cy="589052"/>
            <a:chOff x="0" y="0"/>
            <a:chExt cx="2718419" cy="38262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718419" cy="382620"/>
            </a:xfrm>
            <a:custGeom>
              <a:avLst/>
              <a:gdLst/>
              <a:ahLst/>
              <a:cxnLst/>
              <a:rect l="l" t="t" r="r" b="b"/>
              <a:pathLst>
                <a:path w="2718419" h="382620">
                  <a:moveTo>
                    <a:pt x="2515219" y="0"/>
                  </a:moveTo>
                  <a:cubicBezTo>
                    <a:pt x="2627443" y="0"/>
                    <a:pt x="2718419" y="85652"/>
                    <a:pt x="2718419" y="191310"/>
                  </a:cubicBezTo>
                  <a:cubicBezTo>
                    <a:pt x="2718419" y="296968"/>
                    <a:pt x="2627443" y="382620"/>
                    <a:pt x="2515219" y="382620"/>
                  </a:cubicBezTo>
                  <a:lnTo>
                    <a:pt x="203200" y="382620"/>
                  </a:lnTo>
                  <a:cubicBezTo>
                    <a:pt x="90976" y="382620"/>
                    <a:pt x="0" y="296968"/>
                    <a:pt x="0" y="191310"/>
                  </a:cubicBezTo>
                  <a:cubicBezTo>
                    <a:pt x="0" y="85652"/>
                    <a:pt x="90976" y="0"/>
                    <a:pt x="2032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32A64">
                    <a:alpha val="100000"/>
                  </a:srgbClr>
                </a:gs>
                <a:gs pos="100000">
                  <a:srgbClr val="414C94">
                    <a:alpha val="100000"/>
                  </a:srgbClr>
                </a:gs>
              </a:gsLst>
              <a:lin ang="0"/>
            </a:gra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2718419" cy="4207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83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3986286" y="3899184"/>
            <a:ext cx="3685593" cy="2912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58"/>
              </a:lnSpc>
            </a:pPr>
            <a:r>
              <a:rPr lang="en-US" sz="2272" b="1" dirty="0">
                <a:solidFill>
                  <a:srgbClr val="36E9F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IMPORTANT FEATURES: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893516" y="4596195"/>
            <a:ext cx="3778363" cy="31253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0" lvl="1" indent="-259080" algn="ctr">
              <a:lnSpc>
                <a:spcPts val="3096"/>
              </a:lnSpc>
              <a:buFont typeface="Arial"/>
              <a:buChar char="•"/>
            </a:pPr>
            <a:r>
              <a:rPr lang="en-US" sz="2400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Gender</a:t>
            </a:r>
          </a:p>
          <a:p>
            <a:pPr marL="518160" lvl="1" indent="-259080" algn="ctr">
              <a:lnSpc>
                <a:spcPts val="3096"/>
              </a:lnSpc>
              <a:buFont typeface="Arial"/>
              <a:buChar char="•"/>
            </a:pPr>
            <a:r>
              <a:rPr lang="en-US" sz="2400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Married</a:t>
            </a:r>
          </a:p>
          <a:p>
            <a:pPr marL="518160" lvl="1" indent="-259080" algn="ctr">
              <a:lnSpc>
                <a:spcPts val="3096"/>
              </a:lnSpc>
              <a:buFont typeface="Arial"/>
              <a:buChar char="•"/>
            </a:pPr>
            <a:r>
              <a:rPr lang="en-US" sz="2400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Dependents</a:t>
            </a:r>
          </a:p>
          <a:p>
            <a:pPr marL="518160" lvl="1" indent="-259080" algn="ctr">
              <a:lnSpc>
                <a:spcPts val="3096"/>
              </a:lnSpc>
              <a:buFont typeface="Arial"/>
              <a:buChar char="•"/>
            </a:pPr>
            <a:r>
              <a:rPr lang="en-US" sz="2400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ApplicantIncome</a:t>
            </a:r>
          </a:p>
          <a:p>
            <a:pPr marL="518160" lvl="1" indent="-259080" algn="ctr">
              <a:lnSpc>
                <a:spcPts val="3096"/>
              </a:lnSpc>
              <a:buFont typeface="Arial"/>
              <a:buChar char="•"/>
            </a:pPr>
            <a:r>
              <a:rPr lang="en-US" sz="2400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LoanAmount</a:t>
            </a:r>
          </a:p>
          <a:p>
            <a:pPr marL="518160" lvl="1" indent="-259080" algn="ctr">
              <a:lnSpc>
                <a:spcPts val="3096"/>
              </a:lnSpc>
              <a:buFont typeface="Arial"/>
              <a:buChar char="•"/>
            </a:pPr>
            <a:r>
              <a:rPr lang="en-US" sz="2400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Credit_History</a:t>
            </a:r>
          </a:p>
          <a:p>
            <a:pPr marL="518160" lvl="1" indent="-259080" algn="ctr">
              <a:lnSpc>
                <a:spcPts val="3096"/>
              </a:lnSpc>
              <a:buFont typeface="Arial"/>
              <a:buChar char="•"/>
            </a:pPr>
            <a:r>
              <a:rPr lang="en-US" sz="2400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Property_Area</a:t>
            </a:r>
          </a:p>
          <a:p>
            <a:pPr algn="ctr">
              <a:lnSpc>
                <a:spcPts val="3096"/>
              </a:lnSpc>
            </a:pPr>
            <a:endParaRPr lang="en-US" sz="2400" i="1" dirty="0">
              <a:solidFill>
                <a:srgbClr val="FFFFFF"/>
              </a:solidFill>
              <a:latin typeface="Raleway Italics"/>
              <a:ea typeface="Raleway Italics"/>
              <a:cs typeface="Raleway Italics"/>
              <a:sym typeface="Raleway Italics"/>
            </a:endParaRPr>
          </a:p>
        </p:txBody>
      </p:sp>
      <p:grpSp>
        <p:nvGrpSpPr>
          <p:cNvPr id="16" name="Group 16"/>
          <p:cNvGrpSpPr/>
          <p:nvPr/>
        </p:nvGrpSpPr>
        <p:grpSpPr>
          <a:xfrm>
            <a:off x="366385" y="3719086"/>
            <a:ext cx="4021771" cy="589052"/>
            <a:chOff x="0" y="0"/>
            <a:chExt cx="2612351" cy="38262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612351" cy="382620"/>
            </a:xfrm>
            <a:custGeom>
              <a:avLst/>
              <a:gdLst/>
              <a:ahLst/>
              <a:cxnLst/>
              <a:rect l="l" t="t" r="r" b="b"/>
              <a:pathLst>
                <a:path w="2612351" h="382620">
                  <a:moveTo>
                    <a:pt x="2409151" y="0"/>
                  </a:moveTo>
                  <a:cubicBezTo>
                    <a:pt x="2521375" y="0"/>
                    <a:pt x="2612351" y="85652"/>
                    <a:pt x="2612351" y="191310"/>
                  </a:cubicBezTo>
                  <a:cubicBezTo>
                    <a:pt x="2612351" y="296968"/>
                    <a:pt x="2521375" y="382620"/>
                    <a:pt x="2409151" y="382620"/>
                  </a:cubicBezTo>
                  <a:lnTo>
                    <a:pt x="203200" y="382620"/>
                  </a:lnTo>
                  <a:cubicBezTo>
                    <a:pt x="90976" y="382620"/>
                    <a:pt x="0" y="296968"/>
                    <a:pt x="0" y="191310"/>
                  </a:cubicBezTo>
                  <a:cubicBezTo>
                    <a:pt x="0" y="85652"/>
                    <a:pt x="90976" y="0"/>
                    <a:pt x="2032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32A64">
                    <a:alpha val="100000"/>
                  </a:srgbClr>
                </a:gs>
                <a:gs pos="100000">
                  <a:srgbClr val="414C94">
                    <a:alpha val="100000"/>
                  </a:srgbClr>
                </a:gs>
              </a:gsLst>
              <a:lin ang="0"/>
            </a:gra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2612351" cy="4207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83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34835" y="3871296"/>
            <a:ext cx="3684870" cy="2912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58"/>
              </a:lnSpc>
            </a:pPr>
            <a:r>
              <a:rPr lang="en-US" sz="2272" b="1" dirty="0">
                <a:solidFill>
                  <a:srgbClr val="36E9F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DATA-INFO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D1D987A-522F-F60B-493B-D53379AD18F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694" y="4076700"/>
            <a:ext cx="6673645" cy="4495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361B70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1582889">
            <a:off x="-4783694" y="7975014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0"/>
                </a:moveTo>
                <a:lnTo>
                  <a:pt x="19149891" y="0"/>
                </a:lnTo>
                <a:lnTo>
                  <a:pt x="19149891" y="6989710"/>
                </a:lnTo>
                <a:lnTo>
                  <a:pt x="0" y="69897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 rot="1572293" flipV="1">
            <a:off x="3960635" y="-5525403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6989711"/>
                </a:moveTo>
                <a:lnTo>
                  <a:pt x="19149891" y="6989711"/>
                </a:lnTo>
                <a:lnTo>
                  <a:pt x="19149891" y="0"/>
                </a:lnTo>
                <a:lnTo>
                  <a:pt x="0" y="0"/>
                </a:lnTo>
                <a:lnTo>
                  <a:pt x="0" y="6989711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7965146" y="1028700"/>
            <a:ext cx="658167" cy="595940"/>
          </a:xfrm>
          <a:custGeom>
            <a:avLst/>
            <a:gdLst/>
            <a:ahLst/>
            <a:cxnLst/>
            <a:rect l="l" t="t" r="r" b="b"/>
            <a:pathLst>
              <a:path w="658167" h="595940">
                <a:moveTo>
                  <a:pt x="0" y="0"/>
                </a:moveTo>
                <a:lnTo>
                  <a:pt x="658167" y="0"/>
                </a:lnTo>
                <a:lnTo>
                  <a:pt x="658167" y="595940"/>
                </a:lnTo>
                <a:lnTo>
                  <a:pt x="0" y="59594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Freeform 5"/>
          <p:cNvSpPr/>
          <p:nvPr/>
        </p:nvSpPr>
        <p:spPr>
          <a:xfrm>
            <a:off x="2177264" y="1507908"/>
            <a:ext cx="4993586" cy="9204767"/>
          </a:xfrm>
          <a:custGeom>
            <a:avLst/>
            <a:gdLst/>
            <a:ahLst/>
            <a:cxnLst/>
            <a:rect l="l" t="t" r="r" b="b"/>
            <a:pathLst>
              <a:path w="4993586" h="9204767">
                <a:moveTo>
                  <a:pt x="0" y="0"/>
                </a:moveTo>
                <a:lnTo>
                  <a:pt x="4993586" y="0"/>
                </a:lnTo>
                <a:lnTo>
                  <a:pt x="4993586" y="9204768"/>
                </a:lnTo>
                <a:lnTo>
                  <a:pt x="0" y="920476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TextBox 6"/>
          <p:cNvSpPr txBox="1"/>
          <p:nvPr/>
        </p:nvSpPr>
        <p:spPr>
          <a:xfrm>
            <a:off x="1300724" y="1599114"/>
            <a:ext cx="1154372" cy="5157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7"/>
              </a:lnSpc>
            </a:pPr>
            <a:r>
              <a:rPr lang="en-US" sz="3145">
                <a:solidFill>
                  <a:srgbClr val="FFFFFF"/>
                </a:solidFill>
                <a:latin typeface="Mokoto"/>
                <a:ea typeface="Mokoto"/>
                <a:cs typeface="Mokoto"/>
                <a:sym typeface="Mokoto"/>
              </a:rPr>
              <a:t>05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65146" y="2260162"/>
            <a:ext cx="9418551" cy="2174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359"/>
              </a:lnSpc>
            </a:pPr>
            <a:r>
              <a:rPr lang="en-US" sz="8799" b="1">
                <a:solidFill>
                  <a:srgbClr val="36E9F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Data Preprocessing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945523" y="4587246"/>
            <a:ext cx="8533572" cy="37710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Checked for missing values</a:t>
            </a:r>
          </a:p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Filled missing categorical values using Mode</a:t>
            </a:r>
          </a:p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Filled numerical values using Median</a:t>
            </a:r>
          </a:p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Converted categorical values into numerical format</a:t>
            </a:r>
          </a:p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Split dataset into Training and Testing sets</a:t>
            </a:r>
          </a:p>
          <a:p>
            <a:pPr algn="l">
              <a:lnSpc>
                <a:spcPts val="3319"/>
              </a:lnSpc>
            </a:pPr>
            <a:endParaRPr lang="en-US" sz="2573" i="1">
              <a:solidFill>
                <a:srgbClr val="FFFFFF"/>
              </a:solidFill>
              <a:latin typeface="Raleway Italics"/>
              <a:ea typeface="Raleway Italics"/>
              <a:cs typeface="Raleway Italics"/>
              <a:sym typeface="Raleway Italics"/>
            </a:endParaRPr>
          </a:p>
          <a:p>
            <a:pPr algn="l">
              <a:lnSpc>
                <a:spcPts val="3319"/>
              </a:lnSpc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Training Size: 80%</a:t>
            </a:r>
          </a:p>
          <a:p>
            <a:pPr algn="l">
              <a:lnSpc>
                <a:spcPts val="3319"/>
              </a:lnSpc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 Testing Size: 20%</a:t>
            </a:r>
          </a:p>
          <a:p>
            <a:pPr algn="l">
              <a:lnSpc>
                <a:spcPts val="3319"/>
              </a:lnSpc>
            </a:pPr>
            <a:endParaRPr lang="en-US" sz="2573" i="1">
              <a:solidFill>
                <a:srgbClr val="FFFFFF"/>
              </a:solidFill>
              <a:latin typeface="Raleway Italics"/>
              <a:ea typeface="Raleway Italics"/>
              <a:cs typeface="Raleway Italics"/>
              <a:sym typeface="Raleway Italics"/>
            </a:endParaRPr>
          </a:p>
        </p:txBody>
      </p:sp>
      <p:sp>
        <p:nvSpPr>
          <p:cNvPr id="9" name="Freeform 9"/>
          <p:cNvSpPr/>
          <p:nvPr/>
        </p:nvSpPr>
        <p:spPr>
          <a:xfrm>
            <a:off x="1028700" y="4478587"/>
            <a:ext cx="2691369" cy="2691369"/>
          </a:xfrm>
          <a:custGeom>
            <a:avLst/>
            <a:gdLst/>
            <a:ahLst/>
            <a:cxnLst/>
            <a:rect l="l" t="t" r="r" b="b"/>
            <a:pathLst>
              <a:path w="2691369" h="2691369">
                <a:moveTo>
                  <a:pt x="0" y="0"/>
                </a:moveTo>
                <a:lnTo>
                  <a:pt x="2691369" y="0"/>
                </a:lnTo>
                <a:lnTo>
                  <a:pt x="2691369" y="2691369"/>
                </a:lnTo>
                <a:lnTo>
                  <a:pt x="0" y="269136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A30ED27-3949-78C6-5D18-53E70C44C4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0818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32A64">
                <a:alpha val="100000"/>
              </a:srgbClr>
            </a:gs>
            <a:gs pos="100000">
              <a:srgbClr val="414C94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14761">
            <a:off x="5680419" y="6404287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0"/>
                </a:moveTo>
                <a:lnTo>
                  <a:pt x="19149891" y="0"/>
                </a:lnTo>
                <a:lnTo>
                  <a:pt x="19149891" y="6989711"/>
                </a:lnTo>
                <a:lnTo>
                  <a:pt x="0" y="69897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 rot="1572293" flipV="1">
            <a:off x="3960635" y="-5525403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6989711"/>
                </a:moveTo>
                <a:lnTo>
                  <a:pt x="19149891" y="6989711"/>
                </a:lnTo>
                <a:lnTo>
                  <a:pt x="19149891" y="0"/>
                </a:lnTo>
                <a:lnTo>
                  <a:pt x="0" y="0"/>
                </a:lnTo>
                <a:lnTo>
                  <a:pt x="0" y="6989711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2468988" y="1028700"/>
            <a:ext cx="658167" cy="595940"/>
          </a:xfrm>
          <a:custGeom>
            <a:avLst/>
            <a:gdLst/>
            <a:ahLst/>
            <a:cxnLst/>
            <a:rect l="l" t="t" r="r" b="b"/>
            <a:pathLst>
              <a:path w="658167" h="595940">
                <a:moveTo>
                  <a:pt x="0" y="0"/>
                </a:moveTo>
                <a:lnTo>
                  <a:pt x="658166" y="0"/>
                </a:lnTo>
                <a:lnTo>
                  <a:pt x="658166" y="595940"/>
                </a:lnTo>
                <a:lnTo>
                  <a:pt x="0" y="59594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16104928" y="941652"/>
            <a:ext cx="1154372" cy="5157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7"/>
              </a:lnSpc>
            </a:pPr>
            <a:r>
              <a:rPr lang="en-US" sz="3145">
                <a:solidFill>
                  <a:srgbClr val="FFFFFF"/>
                </a:solidFill>
                <a:latin typeface="Mokoto"/>
                <a:ea typeface="Mokoto"/>
                <a:cs typeface="Mokoto"/>
                <a:sym typeface="Mokoto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346705" y="2240453"/>
            <a:ext cx="15048678" cy="2174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359"/>
              </a:lnSpc>
            </a:pPr>
            <a:r>
              <a:rPr lang="en-US" sz="8799" b="1">
                <a:solidFill>
                  <a:srgbClr val="FFFFFF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Machine Learning Model Used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346705" y="4587246"/>
            <a:ext cx="8533572" cy="293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9"/>
              </a:lnSpc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Model Used:</a:t>
            </a:r>
          </a:p>
          <a:p>
            <a:pPr algn="l">
              <a:lnSpc>
                <a:spcPts val="3319"/>
              </a:lnSpc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Logistic Regression</a:t>
            </a:r>
          </a:p>
          <a:p>
            <a:pPr algn="l">
              <a:lnSpc>
                <a:spcPts val="3319"/>
              </a:lnSpc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Why Logistic Regression?</a:t>
            </a:r>
          </a:p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Suitable for classification problems</a:t>
            </a:r>
          </a:p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Simple and efficient</a:t>
            </a:r>
          </a:p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Works well for binary output (Yes/No)</a:t>
            </a:r>
          </a:p>
          <a:p>
            <a:pPr algn="l">
              <a:lnSpc>
                <a:spcPts val="3319"/>
              </a:lnSpc>
            </a:pPr>
            <a:endParaRPr lang="en-US" sz="2573" i="1">
              <a:solidFill>
                <a:srgbClr val="FFFFFF"/>
              </a:solidFill>
              <a:latin typeface="Raleway Italics"/>
              <a:ea typeface="Raleway Italics"/>
              <a:cs typeface="Raleway Italics"/>
              <a:sym typeface="Raleway Italics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16682114" y="7881886"/>
            <a:ext cx="1785236" cy="1785236"/>
          </a:xfrm>
          <a:custGeom>
            <a:avLst/>
            <a:gdLst/>
            <a:ahLst/>
            <a:cxnLst/>
            <a:rect l="l" t="t" r="r" b="b"/>
            <a:pathLst>
              <a:path w="1785236" h="1785236">
                <a:moveTo>
                  <a:pt x="0" y="0"/>
                </a:moveTo>
                <a:lnTo>
                  <a:pt x="1785236" y="0"/>
                </a:lnTo>
                <a:lnTo>
                  <a:pt x="1785236" y="1785236"/>
                </a:lnTo>
                <a:lnTo>
                  <a:pt x="0" y="178523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9" name="Freeform 9"/>
          <p:cNvSpPr/>
          <p:nvPr/>
        </p:nvSpPr>
        <p:spPr>
          <a:xfrm>
            <a:off x="-183721" y="564812"/>
            <a:ext cx="1785236" cy="1785236"/>
          </a:xfrm>
          <a:custGeom>
            <a:avLst/>
            <a:gdLst/>
            <a:ahLst/>
            <a:cxnLst/>
            <a:rect l="l" t="t" r="r" b="b"/>
            <a:pathLst>
              <a:path w="1785236" h="1785236">
                <a:moveTo>
                  <a:pt x="0" y="0"/>
                </a:moveTo>
                <a:lnTo>
                  <a:pt x="1785236" y="0"/>
                </a:lnTo>
                <a:lnTo>
                  <a:pt x="1785236" y="1785236"/>
                </a:lnTo>
                <a:lnTo>
                  <a:pt x="0" y="178523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pic>
        <p:nvPicPr>
          <p:cNvPr id="1026" name="Picture 2" descr="Shows the machine learning life cycle steps as a diagram.">
            <a:extLst>
              <a:ext uri="{FF2B5EF4-FFF2-40B4-BE49-F238E27FC236}">
                <a16:creationId xmlns:a16="http://schemas.microsoft.com/office/drawing/2014/main" id="{3D9FB137-19CB-482E-5E4A-67B045B6C3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3600" y="4457700"/>
            <a:ext cx="7239000" cy="320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361B70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242831">
            <a:off x="-183072" y="9034920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0"/>
                </a:moveTo>
                <a:lnTo>
                  <a:pt x="19149891" y="0"/>
                </a:lnTo>
                <a:lnTo>
                  <a:pt x="19149891" y="6989711"/>
                </a:lnTo>
                <a:lnTo>
                  <a:pt x="0" y="69897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 rot="-438710" flipV="1">
            <a:off x="-4529841" y="-5573153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6989710"/>
                </a:moveTo>
                <a:lnTo>
                  <a:pt x="19149891" y="6989710"/>
                </a:lnTo>
                <a:lnTo>
                  <a:pt x="19149891" y="0"/>
                </a:lnTo>
                <a:lnTo>
                  <a:pt x="0" y="0"/>
                </a:lnTo>
                <a:lnTo>
                  <a:pt x="0" y="6989710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7391400" y="419100"/>
            <a:ext cx="658167" cy="595940"/>
          </a:xfrm>
          <a:custGeom>
            <a:avLst/>
            <a:gdLst/>
            <a:ahLst/>
            <a:cxnLst/>
            <a:rect l="l" t="t" r="r" b="b"/>
            <a:pathLst>
              <a:path w="658167" h="595940">
                <a:moveTo>
                  <a:pt x="0" y="0"/>
                </a:moveTo>
                <a:lnTo>
                  <a:pt x="658167" y="0"/>
                </a:lnTo>
                <a:lnTo>
                  <a:pt x="658167" y="595940"/>
                </a:lnTo>
                <a:lnTo>
                  <a:pt x="0" y="59594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5" name="Freeform 5"/>
          <p:cNvSpPr/>
          <p:nvPr/>
        </p:nvSpPr>
        <p:spPr>
          <a:xfrm>
            <a:off x="-5308566" y="2057400"/>
            <a:ext cx="9272016" cy="8229600"/>
          </a:xfrm>
          <a:custGeom>
            <a:avLst/>
            <a:gdLst/>
            <a:ahLst/>
            <a:cxnLst/>
            <a:rect l="l" t="t" r="r" b="b"/>
            <a:pathLst>
              <a:path w="9272016" h="8229600">
                <a:moveTo>
                  <a:pt x="0" y="0"/>
                </a:moveTo>
                <a:lnTo>
                  <a:pt x="9272016" y="0"/>
                </a:lnTo>
                <a:lnTo>
                  <a:pt x="9272016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8999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TextBox 6"/>
          <p:cNvSpPr txBox="1"/>
          <p:nvPr/>
        </p:nvSpPr>
        <p:spPr>
          <a:xfrm>
            <a:off x="3886200" y="1352306"/>
            <a:ext cx="9965350" cy="1100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43"/>
              </a:lnSpc>
            </a:pPr>
            <a:r>
              <a:rPr lang="en-US" sz="8572" b="1" dirty="0">
                <a:solidFill>
                  <a:srgbClr val="36E9F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Model Training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693785" y="2513510"/>
            <a:ext cx="9705631" cy="2094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55638" lvl="1" indent="-277819" algn="ctr">
              <a:lnSpc>
                <a:spcPts val="3319"/>
              </a:lnSpc>
              <a:buFont typeface="Arial"/>
              <a:buChar char="•"/>
            </a:pPr>
            <a:r>
              <a:rPr lang="en-US" sz="2573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Imported sklearn library</a:t>
            </a:r>
          </a:p>
          <a:p>
            <a:pPr marL="555638" lvl="1" indent="-277819" algn="ctr">
              <a:lnSpc>
                <a:spcPts val="3319"/>
              </a:lnSpc>
              <a:buFont typeface="Arial"/>
              <a:buChar char="•"/>
            </a:pPr>
            <a:r>
              <a:rPr lang="en-US" sz="2573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Split data using train_test_split</a:t>
            </a:r>
          </a:p>
          <a:p>
            <a:pPr marL="555638" lvl="1" indent="-277819" algn="ctr">
              <a:lnSpc>
                <a:spcPts val="3319"/>
              </a:lnSpc>
              <a:buFont typeface="Arial"/>
              <a:buChar char="•"/>
            </a:pPr>
            <a:r>
              <a:rPr lang="en-US" sz="2573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Trained model using training dataset</a:t>
            </a:r>
          </a:p>
          <a:p>
            <a:pPr marL="555638" lvl="1" indent="-277819" algn="ctr">
              <a:lnSpc>
                <a:spcPts val="3319"/>
              </a:lnSpc>
              <a:buFont typeface="Arial"/>
              <a:buChar char="•"/>
            </a:pPr>
            <a:r>
              <a:rPr lang="en-US" sz="2573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Evaluated using testing dataset</a:t>
            </a:r>
          </a:p>
          <a:p>
            <a:pPr algn="ctr">
              <a:lnSpc>
                <a:spcPts val="3319"/>
              </a:lnSpc>
            </a:pPr>
            <a:endParaRPr lang="en-US" sz="2573" i="1" dirty="0">
              <a:solidFill>
                <a:srgbClr val="FFFFFF"/>
              </a:solidFill>
              <a:latin typeface="Raleway Italics"/>
              <a:ea typeface="Raleway Italics"/>
              <a:cs typeface="Raleway Italics"/>
              <a:sym typeface="Raleway Italics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13054474" y="2209800"/>
            <a:ext cx="9272016" cy="8229600"/>
          </a:xfrm>
          <a:custGeom>
            <a:avLst/>
            <a:gdLst/>
            <a:ahLst/>
            <a:cxnLst/>
            <a:rect l="l" t="t" r="r" b="b"/>
            <a:pathLst>
              <a:path w="9272016" h="8229600">
                <a:moveTo>
                  <a:pt x="0" y="0"/>
                </a:moveTo>
                <a:lnTo>
                  <a:pt x="9272016" y="0"/>
                </a:lnTo>
                <a:lnTo>
                  <a:pt x="9272016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8999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9" name="TextBox 9"/>
          <p:cNvSpPr txBox="1"/>
          <p:nvPr/>
        </p:nvSpPr>
        <p:spPr>
          <a:xfrm>
            <a:off x="1300724" y="1599114"/>
            <a:ext cx="1154372" cy="5157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7"/>
              </a:lnSpc>
            </a:pPr>
            <a:r>
              <a:rPr lang="en-US" sz="3145">
                <a:solidFill>
                  <a:srgbClr val="FFFFFF"/>
                </a:solidFill>
                <a:latin typeface="Mokoto"/>
                <a:ea typeface="Mokoto"/>
                <a:cs typeface="Mokoto"/>
                <a:sym typeface="Mokoto"/>
              </a:rPr>
              <a:t>07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A7262E3-F260-5D01-69D9-7DEE13ED642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5752" y="4608169"/>
            <a:ext cx="15556496" cy="55633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32A64">
                <a:alpha val="100000"/>
              </a:srgbClr>
            </a:gs>
            <a:gs pos="100000">
              <a:srgbClr val="414C94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14761">
            <a:off x="5680419" y="6404287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0"/>
                </a:moveTo>
                <a:lnTo>
                  <a:pt x="19149891" y="0"/>
                </a:lnTo>
                <a:lnTo>
                  <a:pt x="19149891" y="6989711"/>
                </a:lnTo>
                <a:lnTo>
                  <a:pt x="0" y="69897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 rot="1572293" flipV="1">
            <a:off x="3960635" y="-5525403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6989711"/>
                </a:moveTo>
                <a:lnTo>
                  <a:pt x="19149891" y="6989711"/>
                </a:lnTo>
                <a:lnTo>
                  <a:pt x="19149891" y="0"/>
                </a:lnTo>
                <a:lnTo>
                  <a:pt x="0" y="0"/>
                </a:lnTo>
                <a:lnTo>
                  <a:pt x="0" y="6989711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5224512" y="1754108"/>
            <a:ext cx="658167" cy="595940"/>
          </a:xfrm>
          <a:custGeom>
            <a:avLst/>
            <a:gdLst/>
            <a:ahLst/>
            <a:cxnLst/>
            <a:rect l="l" t="t" r="r" b="b"/>
            <a:pathLst>
              <a:path w="658167" h="595940">
                <a:moveTo>
                  <a:pt x="0" y="0"/>
                </a:moveTo>
                <a:lnTo>
                  <a:pt x="658166" y="0"/>
                </a:lnTo>
                <a:lnTo>
                  <a:pt x="658166" y="595940"/>
                </a:lnTo>
                <a:lnTo>
                  <a:pt x="0" y="59594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5224512" y="2871238"/>
            <a:ext cx="9176274" cy="2138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143"/>
              </a:lnSpc>
            </a:pPr>
            <a:r>
              <a:rPr lang="en-US" sz="8572" b="1">
                <a:solidFill>
                  <a:srgbClr val="FFFFFF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Model Evaluation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224512" y="5114925"/>
            <a:ext cx="11457602" cy="2932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9"/>
              </a:lnSpc>
            </a:pPr>
            <a:r>
              <a:rPr lang="en-US" sz="2573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Model Accuracy: </a:t>
            </a:r>
            <a:r>
              <a:rPr lang="en-US" sz="2573" b="1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78.86%</a:t>
            </a:r>
          </a:p>
          <a:p>
            <a:pPr algn="l">
              <a:lnSpc>
                <a:spcPts val="3319"/>
              </a:lnSpc>
            </a:pPr>
            <a:r>
              <a:rPr lang="en-US" sz="2573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Confusion Matrix:</a:t>
            </a:r>
          </a:p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True Positives: 79</a:t>
            </a:r>
          </a:p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True Negatives: 18</a:t>
            </a:r>
          </a:p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False Positives: 25</a:t>
            </a:r>
          </a:p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False Negatives: 1</a:t>
            </a:r>
          </a:p>
          <a:p>
            <a:pPr algn="l">
              <a:lnSpc>
                <a:spcPts val="3319"/>
              </a:lnSpc>
            </a:pPr>
            <a:endParaRPr lang="en-US" sz="2573" i="1" dirty="0">
              <a:solidFill>
                <a:srgbClr val="FFFFFF"/>
              </a:solidFill>
              <a:latin typeface="Raleway Italics"/>
              <a:ea typeface="Raleway Italics"/>
              <a:cs typeface="Raleway Italics"/>
              <a:sym typeface="Raleway Italics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6104928" y="1599114"/>
            <a:ext cx="1154372" cy="5157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7"/>
              </a:lnSpc>
            </a:pPr>
            <a:r>
              <a:rPr lang="en-US" sz="3145">
                <a:solidFill>
                  <a:srgbClr val="FFFFFF"/>
                </a:solidFill>
                <a:latin typeface="Mokoto"/>
                <a:ea typeface="Mokoto"/>
                <a:cs typeface="Mokoto"/>
                <a:sym typeface="Mokoto"/>
              </a:rPr>
              <a:t>08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71A7316-1674-E47E-15A3-25198CF5651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3200" y="5113675"/>
            <a:ext cx="6154009" cy="293410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361B70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1125294">
            <a:off x="-4706113" y="8754247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0"/>
                </a:moveTo>
                <a:lnTo>
                  <a:pt x="19149891" y="0"/>
                </a:lnTo>
                <a:lnTo>
                  <a:pt x="19149891" y="6989710"/>
                </a:lnTo>
                <a:lnTo>
                  <a:pt x="0" y="69897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 rot="-519534" flipV="1">
            <a:off x="-3557550" y="-5130180"/>
            <a:ext cx="21645066" cy="7900449"/>
          </a:xfrm>
          <a:custGeom>
            <a:avLst/>
            <a:gdLst/>
            <a:ahLst/>
            <a:cxnLst/>
            <a:rect l="l" t="t" r="r" b="b"/>
            <a:pathLst>
              <a:path w="21645066" h="7900449">
                <a:moveTo>
                  <a:pt x="0" y="7900449"/>
                </a:moveTo>
                <a:lnTo>
                  <a:pt x="21645066" y="7900449"/>
                </a:lnTo>
                <a:lnTo>
                  <a:pt x="21645066" y="0"/>
                </a:lnTo>
                <a:lnTo>
                  <a:pt x="0" y="0"/>
                </a:lnTo>
                <a:lnTo>
                  <a:pt x="0" y="7900449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7434481" y="1365543"/>
            <a:ext cx="658167" cy="595940"/>
          </a:xfrm>
          <a:custGeom>
            <a:avLst/>
            <a:gdLst/>
            <a:ahLst/>
            <a:cxnLst/>
            <a:rect l="l" t="t" r="r" b="b"/>
            <a:pathLst>
              <a:path w="658167" h="595940">
                <a:moveTo>
                  <a:pt x="0" y="0"/>
                </a:moveTo>
                <a:lnTo>
                  <a:pt x="658167" y="0"/>
                </a:lnTo>
                <a:lnTo>
                  <a:pt x="658167" y="595940"/>
                </a:lnTo>
                <a:lnTo>
                  <a:pt x="0" y="59594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5004553" y="2450905"/>
            <a:ext cx="8278893" cy="41869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43"/>
              </a:lnSpc>
            </a:pPr>
            <a:r>
              <a:rPr lang="en-US" sz="8572" b="1">
                <a:solidFill>
                  <a:srgbClr val="36E9F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Performance Metrics</a:t>
            </a:r>
          </a:p>
          <a:p>
            <a:pPr algn="ctr">
              <a:lnSpc>
                <a:spcPts val="8143"/>
              </a:lnSpc>
            </a:pPr>
            <a:endParaRPr lang="en-US" sz="8572" b="1">
              <a:solidFill>
                <a:srgbClr val="36E9FD"/>
              </a:solidFill>
              <a:latin typeface="Montserrat Semi-Bold"/>
              <a:ea typeface="Montserrat Semi-Bold"/>
              <a:cs typeface="Montserrat Semi-Bold"/>
              <a:sym typeface="Montserrat Semi-Bold"/>
            </a:endParaRPr>
          </a:p>
          <a:p>
            <a:pPr algn="ctr">
              <a:lnSpc>
                <a:spcPts val="8143"/>
              </a:lnSpc>
            </a:pPr>
            <a:endParaRPr lang="en-US" sz="8572" b="1">
              <a:solidFill>
                <a:srgbClr val="36E9FD"/>
              </a:solidFill>
              <a:latin typeface="Montserrat Semi-Bold"/>
              <a:ea typeface="Montserrat Semi-Bold"/>
              <a:cs typeface="Montserrat Semi-Bold"/>
              <a:sym typeface="Montserrat Semi-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02915" y="4836555"/>
            <a:ext cx="9531833" cy="23086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 algn="ctr">
              <a:lnSpc>
                <a:spcPts val="3648"/>
              </a:lnSpc>
              <a:buFont typeface="Arial" panose="020B0604020202020204" pitchFamily="34" charset="0"/>
              <a:buChar char="•"/>
            </a:pPr>
            <a:r>
              <a:rPr lang="en-US" sz="2828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Precision, Recall, F1-Score were calculated.</a:t>
            </a:r>
          </a:p>
          <a:p>
            <a:pPr algn="ctr">
              <a:lnSpc>
                <a:spcPts val="3648"/>
              </a:lnSpc>
            </a:pPr>
            <a:r>
              <a:rPr lang="en-US" sz="2828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Key Observation:</a:t>
            </a:r>
          </a:p>
          <a:p>
            <a:pPr marL="610633" lvl="1" indent="-305316" algn="ctr">
              <a:lnSpc>
                <a:spcPts val="3648"/>
              </a:lnSpc>
              <a:buFont typeface="Arial"/>
              <a:buChar char="•"/>
            </a:pPr>
            <a:r>
              <a:rPr lang="en-US" sz="2828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Model predicts approved loans very well.</a:t>
            </a:r>
          </a:p>
          <a:p>
            <a:pPr marL="610633" lvl="1" indent="-305316" algn="ctr">
              <a:lnSpc>
                <a:spcPts val="3648"/>
              </a:lnSpc>
              <a:buFont typeface="Arial"/>
              <a:buChar char="•"/>
            </a:pPr>
            <a:r>
              <a:rPr lang="en-US" sz="2828" i="1" dirty="0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Slight improvement needed in predicting rejected loans.</a:t>
            </a:r>
          </a:p>
          <a:p>
            <a:pPr algn="ctr">
              <a:lnSpc>
                <a:spcPts val="3648"/>
              </a:lnSpc>
            </a:pPr>
            <a:endParaRPr lang="en-US" sz="2828" i="1" dirty="0">
              <a:solidFill>
                <a:srgbClr val="FFFFFF"/>
              </a:solidFill>
              <a:latin typeface="Raleway Italics"/>
              <a:ea typeface="Raleway Italics"/>
              <a:cs typeface="Raleway Italics"/>
              <a:sym typeface="Raleway Italics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300724" y="1599114"/>
            <a:ext cx="1074675" cy="5157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7"/>
              </a:lnSpc>
            </a:pPr>
            <a:r>
              <a:rPr lang="en-US" sz="3145">
                <a:solidFill>
                  <a:srgbClr val="FFFFFF"/>
                </a:solidFill>
                <a:latin typeface="Mokoto"/>
                <a:ea typeface="Mokoto"/>
                <a:cs typeface="Mokoto"/>
                <a:sym typeface="Mokoto"/>
              </a:rPr>
              <a:t>09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BD6C616-02FB-5C01-6EC5-0DA72F58BEC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1800" y="4831449"/>
            <a:ext cx="7221139" cy="52260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32A64">
                <a:alpha val="100000"/>
              </a:srgbClr>
            </a:gs>
            <a:gs pos="100000">
              <a:srgbClr val="414C94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756814" y="-403607"/>
            <a:ext cx="6531186" cy="11641778"/>
            <a:chOff x="0" y="0"/>
            <a:chExt cx="1720148" cy="306614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20148" cy="3066147"/>
            </a:xfrm>
            <a:custGeom>
              <a:avLst/>
              <a:gdLst/>
              <a:ahLst/>
              <a:cxnLst/>
              <a:rect l="l" t="t" r="r" b="b"/>
              <a:pathLst>
                <a:path w="1720148" h="3066147">
                  <a:moveTo>
                    <a:pt x="0" y="0"/>
                  </a:moveTo>
                  <a:lnTo>
                    <a:pt x="1720148" y="0"/>
                  </a:lnTo>
                  <a:lnTo>
                    <a:pt x="1720148" y="3066147"/>
                  </a:lnTo>
                  <a:lnTo>
                    <a:pt x="0" y="3066147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0"/>
                  </a:srgbClr>
                </a:gs>
                <a:gs pos="100000">
                  <a:srgbClr val="000000">
                    <a:alpha val="56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720148" cy="310424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83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244472" flipV="1">
            <a:off x="-655069" y="-5609139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6989710"/>
                </a:moveTo>
                <a:lnTo>
                  <a:pt x="19149891" y="6989710"/>
                </a:lnTo>
                <a:lnTo>
                  <a:pt x="19149891" y="0"/>
                </a:lnTo>
                <a:lnTo>
                  <a:pt x="0" y="0"/>
                </a:lnTo>
                <a:lnTo>
                  <a:pt x="0" y="6989710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Freeform 6"/>
          <p:cNvSpPr/>
          <p:nvPr/>
        </p:nvSpPr>
        <p:spPr>
          <a:xfrm>
            <a:off x="7235882" y="1754108"/>
            <a:ext cx="658167" cy="595940"/>
          </a:xfrm>
          <a:custGeom>
            <a:avLst/>
            <a:gdLst/>
            <a:ahLst/>
            <a:cxnLst/>
            <a:rect l="l" t="t" r="r" b="b"/>
            <a:pathLst>
              <a:path w="658167" h="595940">
                <a:moveTo>
                  <a:pt x="0" y="0"/>
                </a:moveTo>
                <a:lnTo>
                  <a:pt x="658167" y="0"/>
                </a:lnTo>
                <a:lnTo>
                  <a:pt x="658167" y="595940"/>
                </a:lnTo>
                <a:lnTo>
                  <a:pt x="0" y="59594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Freeform 7"/>
          <p:cNvSpPr/>
          <p:nvPr/>
        </p:nvSpPr>
        <p:spPr>
          <a:xfrm>
            <a:off x="-980011" y="9512383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0"/>
                </a:moveTo>
                <a:lnTo>
                  <a:pt x="19149891" y="0"/>
                </a:lnTo>
                <a:lnTo>
                  <a:pt x="19149891" y="6989710"/>
                </a:lnTo>
                <a:lnTo>
                  <a:pt x="0" y="69897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8" name="Group 8"/>
          <p:cNvGrpSpPr/>
          <p:nvPr/>
        </p:nvGrpSpPr>
        <p:grpSpPr>
          <a:xfrm>
            <a:off x="1568691" y="8499320"/>
            <a:ext cx="4385755" cy="920009"/>
            <a:chOff x="0" y="0"/>
            <a:chExt cx="1155096" cy="24230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155096" cy="242307"/>
            </a:xfrm>
            <a:custGeom>
              <a:avLst/>
              <a:gdLst/>
              <a:ahLst/>
              <a:cxnLst/>
              <a:rect l="l" t="t" r="r" b="b"/>
              <a:pathLst>
                <a:path w="1155096" h="242307">
                  <a:moveTo>
                    <a:pt x="577548" y="0"/>
                  </a:moveTo>
                  <a:cubicBezTo>
                    <a:pt x="258577" y="0"/>
                    <a:pt x="0" y="54242"/>
                    <a:pt x="0" y="121153"/>
                  </a:cubicBezTo>
                  <a:cubicBezTo>
                    <a:pt x="0" y="188065"/>
                    <a:pt x="258577" y="242307"/>
                    <a:pt x="577548" y="242307"/>
                  </a:cubicBezTo>
                  <a:cubicBezTo>
                    <a:pt x="896519" y="242307"/>
                    <a:pt x="1155096" y="188065"/>
                    <a:pt x="1155096" y="121153"/>
                  </a:cubicBezTo>
                  <a:cubicBezTo>
                    <a:pt x="1155096" y="54242"/>
                    <a:pt x="896519" y="0"/>
                    <a:pt x="577548" y="0"/>
                  </a:cubicBezTo>
                  <a:close/>
                </a:path>
              </a:pathLst>
            </a:custGeom>
            <a:solidFill>
              <a:srgbClr val="36E9FD">
                <a:alpha val="26667"/>
              </a:srgbClr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8290" y="-15384"/>
              <a:ext cx="938515" cy="2349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83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928325" y="1028700"/>
            <a:ext cx="2691369" cy="2691369"/>
          </a:xfrm>
          <a:custGeom>
            <a:avLst/>
            <a:gdLst/>
            <a:ahLst/>
            <a:cxnLst/>
            <a:rect l="l" t="t" r="r" b="b"/>
            <a:pathLst>
              <a:path w="2691369" h="2691369">
                <a:moveTo>
                  <a:pt x="0" y="0"/>
                </a:moveTo>
                <a:lnTo>
                  <a:pt x="2691368" y="0"/>
                </a:lnTo>
                <a:lnTo>
                  <a:pt x="2691368" y="2691369"/>
                </a:lnTo>
                <a:lnTo>
                  <a:pt x="0" y="269136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2" name="TextBox 12"/>
          <p:cNvSpPr txBox="1"/>
          <p:nvPr/>
        </p:nvSpPr>
        <p:spPr>
          <a:xfrm>
            <a:off x="7235882" y="2871238"/>
            <a:ext cx="9176274" cy="1105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143"/>
              </a:lnSpc>
            </a:pPr>
            <a:r>
              <a:rPr lang="en-US" sz="8572" b="1">
                <a:solidFill>
                  <a:srgbClr val="36E9F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Conclusion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235882" y="4386262"/>
            <a:ext cx="9477176" cy="2094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Successfully built a Loan Prediction Model.</a:t>
            </a:r>
          </a:p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Achieved ~79% accuracy.</a:t>
            </a:r>
          </a:p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Logistic Regression performed effectively.</a:t>
            </a:r>
          </a:p>
          <a:p>
            <a:pPr marL="555638" lvl="1" indent="-277819" algn="l">
              <a:lnSpc>
                <a:spcPts val="3319"/>
              </a:lnSpc>
              <a:buFont typeface="Arial"/>
              <a:buChar char="•"/>
            </a:pPr>
            <a:r>
              <a:rPr lang="en-US" sz="2573" i="1">
                <a:solidFill>
                  <a:srgbClr val="FFFFFF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Model can assist banks in faster loan approval decisions.</a:t>
            </a:r>
          </a:p>
          <a:p>
            <a:pPr algn="l">
              <a:lnSpc>
                <a:spcPts val="3319"/>
              </a:lnSpc>
            </a:pPr>
            <a:endParaRPr lang="en-US" sz="2573" i="1">
              <a:solidFill>
                <a:srgbClr val="FFFFFF"/>
              </a:solidFill>
              <a:latin typeface="Raleway Italics"/>
              <a:ea typeface="Raleway Italics"/>
              <a:cs typeface="Raleway Italics"/>
              <a:sym typeface="Raleway Italics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6104928" y="1599114"/>
            <a:ext cx="705682" cy="5157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7"/>
              </a:lnSpc>
            </a:pPr>
            <a:r>
              <a:rPr lang="en-US" sz="3145">
                <a:solidFill>
                  <a:srgbClr val="FFFFFF"/>
                </a:solidFill>
                <a:latin typeface="Mokoto"/>
                <a:ea typeface="Mokoto"/>
                <a:cs typeface="Mokoto"/>
                <a:sym typeface="Mokoto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32A64">
                <a:alpha val="100000"/>
              </a:srgbClr>
            </a:gs>
            <a:gs pos="100000">
              <a:srgbClr val="414C94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3647679">
            <a:off x="5750070" y="2254213"/>
            <a:ext cx="27455017" cy="10021081"/>
          </a:xfrm>
          <a:custGeom>
            <a:avLst/>
            <a:gdLst/>
            <a:ahLst/>
            <a:cxnLst/>
            <a:rect l="l" t="t" r="r" b="b"/>
            <a:pathLst>
              <a:path w="27455017" h="10021081">
                <a:moveTo>
                  <a:pt x="0" y="0"/>
                </a:moveTo>
                <a:lnTo>
                  <a:pt x="27455017" y="0"/>
                </a:lnTo>
                <a:lnTo>
                  <a:pt x="27455017" y="10021081"/>
                </a:lnTo>
                <a:lnTo>
                  <a:pt x="0" y="1002108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 rot="-1161320" flipV="1">
            <a:off x="-5537192" y="-4329620"/>
            <a:ext cx="19149891" cy="6989710"/>
          </a:xfrm>
          <a:custGeom>
            <a:avLst/>
            <a:gdLst/>
            <a:ahLst/>
            <a:cxnLst/>
            <a:rect l="l" t="t" r="r" b="b"/>
            <a:pathLst>
              <a:path w="19149891" h="6989710">
                <a:moveTo>
                  <a:pt x="0" y="6989710"/>
                </a:moveTo>
                <a:lnTo>
                  <a:pt x="19149891" y="6989710"/>
                </a:lnTo>
                <a:lnTo>
                  <a:pt x="19149891" y="0"/>
                </a:lnTo>
                <a:lnTo>
                  <a:pt x="0" y="0"/>
                </a:lnTo>
                <a:lnTo>
                  <a:pt x="0" y="6989710"/>
                </a:lnTo>
                <a:close/>
              </a:path>
            </a:pathLst>
          </a:custGeo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7434481" y="3487351"/>
            <a:ext cx="658167" cy="595940"/>
          </a:xfrm>
          <a:custGeom>
            <a:avLst/>
            <a:gdLst/>
            <a:ahLst/>
            <a:cxnLst/>
            <a:rect l="l" t="t" r="r" b="b"/>
            <a:pathLst>
              <a:path w="658167" h="595940">
                <a:moveTo>
                  <a:pt x="0" y="0"/>
                </a:moveTo>
                <a:lnTo>
                  <a:pt x="658167" y="0"/>
                </a:lnTo>
                <a:lnTo>
                  <a:pt x="658167" y="595940"/>
                </a:lnTo>
                <a:lnTo>
                  <a:pt x="0" y="59594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4555863" y="4411280"/>
            <a:ext cx="9176274" cy="1100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43"/>
              </a:lnSpc>
            </a:pPr>
            <a:r>
              <a:rPr lang="en-US" sz="8572" b="1">
                <a:solidFill>
                  <a:srgbClr val="36E9FD"/>
                </a:solidFill>
                <a:latin typeface="Montserrat Heavy"/>
                <a:ea typeface="Montserrat Heavy"/>
                <a:cs typeface="Montserrat Heavy"/>
                <a:sym typeface="Montserrat Heavy"/>
              </a:rPr>
              <a:t>Thank You!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6792948"/>
            <a:ext cx="3462635" cy="471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  <a:spcBef>
                <a:spcPct val="0"/>
              </a:spcBef>
            </a:pPr>
            <a:r>
              <a:rPr lang="en-US" sz="2799" b="1">
                <a:solidFill>
                  <a:srgbClr val="36E9F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GitHub Repository: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-947693" y="7350479"/>
            <a:ext cx="13732137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b="1" dirty="0">
                <a:solidFill>
                  <a:srgbClr val="36E9F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https://github.com/Shaurya-Gundre/Loan-Status-Prediction-ML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337</Words>
  <Application>Microsoft Office PowerPoint</Application>
  <PresentationFormat>Custom</PresentationFormat>
  <Paragraphs>84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HK Modular</vt:lpstr>
      <vt:lpstr>Arial</vt:lpstr>
      <vt:lpstr>Raleway Italics</vt:lpstr>
      <vt:lpstr>Montserrat Heavy</vt:lpstr>
      <vt:lpstr>Montserrat Semi-Bold</vt:lpstr>
      <vt:lpstr>Calibri</vt:lpstr>
      <vt:lpstr>Mokoto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Purple Gradient Tech Futuristic Artificial Intelligence Presentation</dc:title>
  <cp:lastModifiedBy>shauryakaushal108@gmail.com</cp:lastModifiedBy>
  <cp:revision>5</cp:revision>
  <dcterms:created xsi:type="dcterms:W3CDTF">2006-08-16T00:00:00Z</dcterms:created>
  <dcterms:modified xsi:type="dcterms:W3CDTF">2026-02-28T13:16:03Z</dcterms:modified>
  <dc:identifier>DAHCUp8DCVc</dc:identifier>
</cp:coreProperties>
</file>