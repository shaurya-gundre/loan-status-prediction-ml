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Semi-Bold" charset="1" panose="00000700000000000000"/>
      <p:regular r:id="rId17"/>
    </p:embeddedFont>
    <p:embeddedFont>
      <p:font typeface="Raleway Italics" charset="1" panose="00000000000000000000"/>
      <p:regular r:id="rId18"/>
    </p:embeddedFont>
    <p:embeddedFont>
      <p:font typeface="HK Modular" charset="1" panose="00000800000000000000"/>
      <p:regular r:id="rId19"/>
    </p:embeddedFont>
    <p:embeddedFont>
      <p:font typeface="Mokoto" charset="1" panose="00000000000000000000"/>
      <p:regular r:id="rId20"/>
    </p:embeddedFont>
    <p:embeddedFont>
      <p:font typeface="Montserrat Heavy" charset="1" panose="00000A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6543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76543" y="3287604"/>
            <a:ext cx="9506012" cy="285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776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Loan Status Prediction Using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6543" y="8007116"/>
            <a:ext cx="548251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24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Submitted by: Shaurya Gundre</a:t>
            </a:r>
          </a:p>
          <a:p>
            <a:pPr algn="l">
              <a:lnSpc>
                <a:spcPts val="2374"/>
              </a:lnSpc>
            </a:pPr>
            <a:r>
              <a:rPr lang="en-US" sz="24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Internship Project</a:t>
            </a:r>
          </a:p>
          <a:p>
            <a:pPr algn="l">
              <a:lnSpc>
                <a:spcPts val="2374"/>
              </a:lnSpc>
            </a:pPr>
            <a:r>
              <a:rPr lang="en-US" sz="2499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March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7202" y="6648770"/>
            <a:ext cx="1731359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1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</a:t>
            </a:r>
            <a:r>
              <a:rPr lang="en-US" b="true" sz="2100" spc="1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REDICTING LOAN APPROVAL BASED ON APPLICANT INFORMATION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2822" y="3071015"/>
            <a:ext cx="3970782" cy="8229600"/>
          </a:xfrm>
          <a:custGeom>
            <a:avLst/>
            <a:gdLst/>
            <a:ahLst/>
            <a:cxnLst/>
            <a:rect r="r" b="b" t="t" l="l"/>
            <a:pathLst>
              <a:path h="8229600" w="3970782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75575" y="2080415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71589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45523" y="3142290"/>
            <a:ext cx="7366041" cy="111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79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5523" y="4587246"/>
            <a:ext cx="8533572" cy="293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Loan approval is an important financial decision.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Banks must evaluate applicant details before approving loans.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Manual evaluation takes time and may lead to errors.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Machine Learning can automate and improve prediction accuracy.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00724" y="1599114"/>
            <a:ext cx="1074675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730730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02254" y="1856289"/>
            <a:ext cx="10283492" cy="428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8799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Problem Statement</a:t>
            </a:r>
          </a:p>
          <a:p>
            <a:pPr algn="ctr" marL="1899915" indent="-949957" lvl="1">
              <a:lnSpc>
                <a:spcPts val="8359"/>
              </a:lnSpc>
              <a:buFont typeface="Arial"/>
              <a:buChar char="•"/>
            </a:pPr>
          </a:p>
          <a:p>
            <a:pPr algn="ctr">
              <a:lnSpc>
                <a:spcPts val="8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90961" y="4189200"/>
            <a:ext cx="12506077" cy="419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To predict whether a loan will be approved or not.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Based on applicant details such as: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Income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Credit history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Education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Employment status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Property area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Goal:</a:t>
            </a:r>
          </a:p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Build a classification model to predict Loan_Status.</a:t>
            </a:r>
          </a:p>
          <a:p>
            <a:pPr algn="ctr">
              <a:lnSpc>
                <a:spcPts val="33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378"/>
            <a:ext cx="1406485" cy="1406485"/>
          </a:xfrm>
          <a:custGeom>
            <a:avLst/>
            <a:gdLst/>
            <a:ahLst/>
            <a:cxnLst/>
            <a:rect r="r" b="b" t="t" l="l"/>
            <a:pathLst>
              <a:path h="1406485" w="1406485">
                <a:moveTo>
                  <a:pt x="0" y="0"/>
                </a:moveTo>
                <a:lnTo>
                  <a:pt x="1406485" y="0"/>
                </a:lnTo>
                <a:lnTo>
                  <a:pt x="1406485" y="1406485"/>
                </a:lnTo>
                <a:lnTo>
                  <a:pt x="0" y="1406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8715057"/>
            <a:ext cx="1563369" cy="1571943"/>
          </a:xfrm>
          <a:custGeom>
            <a:avLst/>
            <a:gdLst/>
            <a:ahLst/>
            <a:cxnLst/>
            <a:rect r="r" b="b" t="t" l="l"/>
            <a:pathLst>
              <a:path h="1571943" w="1563369">
                <a:moveTo>
                  <a:pt x="0" y="0"/>
                </a:moveTo>
                <a:lnTo>
                  <a:pt x="1563369" y="0"/>
                </a:lnTo>
                <a:lnTo>
                  <a:pt x="1563369" y="1571943"/>
                </a:lnTo>
                <a:lnTo>
                  <a:pt x="0" y="15719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04572" y="8864362"/>
            <a:ext cx="1457906" cy="1434049"/>
          </a:xfrm>
          <a:custGeom>
            <a:avLst/>
            <a:gdLst/>
            <a:ahLst/>
            <a:cxnLst/>
            <a:rect r="r" b="b" t="t" l="l"/>
            <a:pathLst>
              <a:path h="1434049" w="1457906">
                <a:moveTo>
                  <a:pt x="0" y="0"/>
                </a:moveTo>
                <a:lnTo>
                  <a:pt x="1457906" y="0"/>
                </a:lnTo>
                <a:lnTo>
                  <a:pt x="1457906" y="1434050"/>
                </a:lnTo>
                <a:lnTo>
                  <a:pt x="0" y="14340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2919" y="2333967"/>
            <a:ext cx="11985458" cy="111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9"/>
              </a:lnSpc>
            </a:pPr>
            <a:r>
              <a:rPr lang="en-US" sz="879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Dataset Information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0810" y="5671859"/>
            <a:ext cx="6134216" cy="187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Dataset Name: Loan Prediction Dataset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Total Records: 614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Total Features: 13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Target Variable: Loan_Status</a:t>
            </a:r>
          </a:p>
          <a:p>
            <a:pPr algn="ctr">
              <a:lnSpc>
                <a:spcPts val="2432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1443048" y="4796328"/>
            <a:ext cx="4185064" cy="589052"/>
            <a:chOff x="0" y="0"/>
            <a:chExt cx="2718419" cy="382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18419" cy="382620"/>
            </a:xfrm>
            <a:custGeom>
              <a:avLst/>
              <a:gdLst/>
              <a:ahLst/>
              <a:cxnLst/>
              <a:rect r="r" b="b" t="t" l="l"/>
              <a:pathLst>
                <a:path h="382620" w="2718419">
                  <a:moveTo>
                    <a:pt x="2515219" y="0"/>
                  </a:moveTo>
                  <a:cubicBezTo>
                    <a:pt x="2627443" y="0"/>
                    <a:pt x="2718419" y="85652"/>
                    <a:pt x="2718419" y="191310"/>
                  </a:cubicBezTo>
                  <a:cubicBezTo>
                    <a:pt x="2718419" y="296968"/>
                    <a:pt x="2627443" y="382620"/>
                    <a:pt x="2515219" y="382620"/>
                  </a:cubicBezTo>
                  <a:lnTo>
                    <a:pt x="203200" y="382620"/>
                  </a:lnTo>
                  <a:cubicBezTo>
                    <a:pt x="90976" y="382620"/>
                    <a:pt x="0" y="296968"/>
                    <a:pt x="0" y="191310"/>
                  </a:cubicBezTo>
                  <a:cubicBezTo>
                    <a:pt x="0" y="8565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18419" cy="420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692784" y="4969053"/>
            <a:ext cx="3685593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IMPORTANT FEATURES: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46399" y="5671859"/>
            <a:ext cx="3778363" cy="312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Gender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Married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Dependents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ApplicantIncome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LoanAmount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Credit_History</a:t>
            </a:r>
          </a:p>
          <a:p>
            <a:pPr algn="ctr" marL="518160" indent="-259080" lvl="1">
              <a:lnSpc>
                <a:spcPts val="3096"/>
              </a:lnSpc>
              <a:buFont typeface="Arial"/>
              <a:buChar char="•"/>
            </a:pPr>
            <a:r>
              <a:rPr lang="en-US" sz="24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Property_Area</a:t>
            </a:r>
          </a:p>
          <a:p>
            <a:pPr algn="ctr">
              <a:lnSpc>
                <a:spcPts val="3096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2443670" y="4796328"/>
            <a:ext cx="4021771" cy="589052"/>
            <a:chOff x="0" y="0"/>
            <a:chExt cx="2612351" cy="382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12351" cy="382620"/>
            </a:xfrm>
            <a:custGeom>
              <a:avLst/>
              <a:gdLst/>
              <a:ahLst/>
              <a:cxnLst/>
              <a:rect r="r" b="b" t="t" l="l"/>
              <a:pathLst>
                <a:path h="382620" w="2612351">
                  <a:moveTo>
                    <a:pt x="2409151" y="0"/>
                  </a:moveTo>
                  <a:cubicBezTo>
                    <a:pt x="2521375" y="0"/>
                    <a:pt x="2612351" y="85652"/>
                    <a:pt x="2612351" y="191310"/>
                  </a:cubicBezTo>
                  <a:cubicBezTo>
                    <a:pt x="2612351" y="296968"/>
                    <a:pt x="2521375" y="382620"/>
                    <a:pt x="2409151" y="382620"/>
                  </a:cubicBezTo>
                  <a:lnTo>
                    <a:pt x="203200" y="382620"/>
                  </a:lnTo>
                  <a:cubicBezTo>
                    <a:pt x="90976" y="382620"/>
                    <a:pt x="0" y="296968"/>
                    <a:pt x="0" y="191310"/>
                  </a:cubicBezTo>
                  <a:cubicBezTo>
                    <a:pt x="0" y="8565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12351" cy="420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2121" y="4969053"/>
            <a:ext cx="3684870" cy="29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b="true" sz="22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DATA-INFO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82889">
            <a:off x="-4783694" y="7975014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65146" y="1028700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77264" y="1507908"/>
            <a:ext cx="4993586" cy="9204767"/>
          </a:xfrm>
          <a:custGeom>
            <a:avLst/>
            <a:gdLst/>
            <a:ahLst/>
            <a:cxnLst/>
            <a:rect r="r" b="b" t="t" l="l"/>
            <a:pathLst>
              <a:path h="9204767" w="4993586">
                <a:moveTo>
                  <a:pt x="0" y="0"/>
                </a:moveTo>
                <a:lnTo>
                  <a:pt x="4993586" y="0"/>
                </a:lnTo>
                <a:lnTo>
                  <a:pt x="4993586" y="9204768"/>
                </a:lnTo>
                <a:lnTo>
                  <a:pt x="0" y="920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5146" y="2260162"/>
            <a:ext cx="9418551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799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5523" y="4587246"/>
            <a:ext cx="8533572" cy="377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Checked for missing values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Filled missing categorical values using Mode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Filled numerical values using Median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Converted categorical values into numerical format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Split dataset into Training and Testing sets</a:t>
            </a:r>
          </a:p>
          <a:p>
            <a:pPr algn="l">
              <a:lnSpc>
                <a:spcPts val="3319"/>
              </a:lnSpc>
            </a:pPr>
          </a:p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Training Size: 80%</a:t>
            </a:r>
          </a:p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Testing Size: 20%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4478587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9" y="0"/>
                </a:lnTo>
                <a:lnTo>
                  <a:pt x="2691369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8988" y="1028700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04928" y="941652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46705" y="2240453"/>
            <a:ext cx="15048678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799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Machine Learning Model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6705" y="4587246"/>
            <a:ext cx="8533572" cy="293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Used:</a:t>
            </a:r>
          </a:p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Logistic Regression</a:t>
            </a:r>
          </a:p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Why Logistic Regression?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Suitable for classification problems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Simple and efficient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Works well for binary output (Yes/No)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682114" y="7881886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83721" y="564812"/>
            <a:ext cx="1785236" cy="1785236"/>
          </a:xfrm>
          <a:custGeom>
            <a:avLst/>
            <a:gdLst/>
            <a:ahLst/>
            <a:cxnLst/>
            <a:rect r="r" b="b" t="t" l="l"/>
            <a:pathLst>
              <a:path h="1785236" w="1785236">
                <a:moveTo>
                  <a:pt x="0" y="0"/>
                </a:moveTo>
                <a:lnTo>
                  <a:pt x="1785236" y="0"/>
                </a:lnTo>
                <a:lnTo>
                  <a:pt x="1785236" y="1785236"/>
                </a:lnTo>
                <a:lnTo>
                  <a:pt x="0" y="17852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2831">
            <a:off x="-183072" y="90349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438710">
            <a:off x="-4529841" y="-557315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08566" y="2057400"/>
            <a:ext cx="9272016" cy="8229600"/>
          </a:xfrm>
          <a:custGeom>
            <a:avLst/>
            <a:gdLst/>
            <a:ahLst/>
            <a:cxnLst/>
            <a:rect r="r" b="b" t="t" l="l"/>
            <a:pathLst>
              <a:path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63450" y="3357036"/>
            <a:ext cx="9965350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18884" y="4981756"/>
            <a:ext cx="9705631" cy="209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Imported sklearn library</a:t>
            </a:r>
          </a:p>
          <a:p>
            <a:pPr algn="ctr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Split data using train_test_split</a:t>
            </a:r>
          </a:p>
          <a:p>
            <a:pPr algn="ctr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Trained model using training dataset</a:t>
            </a:r>
          </a:p>
          <a:p>
            <a:pPr algn="ctr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Evaluated using testing dataset</a:t>
            </a:r>
          </a:p>
          <a:p>
            <a:pPr algn="ctr">
              <a:lnSpc>
                <a:spcPts val="331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54474" y="2209800"/>
            <a:ext cx="9272016" cy="8229600"/>
          </a:xfrm>
          <a:custGeom>
            <a:avLst/>
            <a:gdLst/>
            <a:ahLst/>
            <a:cxnLst/>
            <a:rect r="r" b="b" t="t" l="l"/>
            <a:pathLst>
              <a:path h="8229600" w="9272016">
                <a:moveTo>
                  <a:pt x="0" y="0"/>
                </a:moveTo>
                <a:lnTo>
                  <a:pt x="9272016" y="0"/>
                </a:lnTo>
                <a:lnTo>
                  <a:pt x="9272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0724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4512" y="175410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24512" y="2871238"/>
            <a:ext cx="9176274" cy="213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4512" y="5114925"/>
            <a:ext cx="11457602" cy="293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Accuracy: 78.86%</a:t>
            </a:r>
          </a:p>
          <a:p>
            <a:pPr algn="l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Confusion Matrix: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True Positives: 79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True Negatives: 18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False Positives: 25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False Negatives: 1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104928" y="1599114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25294">
            <a:off x="-4706113" y="875424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19534">
            <a:off x="-3557550" y="-5130180"/>
            <a:ext cx="21645066" cy="7900449"/>
          </a:xfrm>
          <a:custGeom>
            <a:avLst/>
            <a:gdLst/>
            <a:ahLst/>
            <a:cxnLst/>
            <a:rect r="r" b="b" t="t" l="l"/>
            <a:pathLst>
              <a:path h="7900449" w="21645066">
                <a:moveTo>
                  <a:pt x="0" y="7900449"/>
                </a:moveTo>
                <a:lnTo>
                  <a:pt x="21645066" y="7900449"/>
                </a:lnTo>
                <a:lnTo>
                  <a:pt x="21645066" y="0"/>
                </a:lnTo>
                <a:lnTo>
                  <a:pt x="0" y="0"/>
                </a:lnTo>
                <a:lnTo>
                  <a:pt x="0" y="7900449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1365543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04553" y="2450905"/>
            <a:ext cx="8278893" cy="418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Performance Metrics</a:t>
            </a:r>
          </a:p>
          <a:p>
            <a:pPr algn="ctr">
              <a:lnSpc>
                <a:spcPts val="8143"/>
              </a:lnSpc>
            </a:pPr>
          </a:p>
          <a:p>
            <a:pPr algn="ctr">
              <a:lnSpc>
                <a:spcPts val="81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93905" y="4793730"/>
            <a:ext cx="9531833" cy="230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82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Precision, Recall, F1-Score were calculated.</a:t>
            </a:r>
          </a:p>
          <a:p>
            <a:pPr algn="ctr">
              <a:lnSpc>
                <a:spcPts val="3648"/>
              </a:lnSpc>
            </a:pPr>
            <a:r>
              <a:rPr lang="en-US" sz="282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Key Observation:</a:t>
            </a:r>
          </a:p>
          <a:p>
            <a:pPr algn="ctr" marL="610633" indent="-305316" lvl="1">
              <a:lnSpc>
                <a:spcPts val="3648"/>
              </a:lnSpc>
              <a:buFont typeface="Arial"/>
              <a:buChar char="•"/>
            </a:pPr>
            <a:r>
              <a:rPr lang="en-US" sz="282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predicts approved loans very well.</a:t>
            </a:r>
          </a:p>
          <a:p>
            <a:pPr algn="ctr" marL="610633" indent="-305316" lvl="1">
              <a:lnSpc>
                <a:spcPts val="3648"/>
              </a:lnSpc>
              <a:buFont typeface="Arial"/>
              <a:buChar char="•"/>
            </a:pPr>
            <a:r>
              <a:rPr lang="en-US" sz="2828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Slight improvement needed in predicting rejected loans.</a:t>
            </a:r>
          </a:p>
          <a:p>
            <a:pPr algn="ctr">
              <a:lnSpc>
                <a:spcPts val="364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00724" y="1599114"/>
            <a:ext cx="1074675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56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44472">
            <a:off x="-655069" y="-560913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35882" y="175410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80011" y="951238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68691" y="8499320"/>
            <a:ext cx="4385755" cy="920009"/>
            <a:chOff x="0" y="0"/>
            <a:chExt cx="1155096" cy="2423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5096" cy="242307"/>
            </a:xfrm>
            <a:custGeom>
              <a:avLst/>
              <a:gdLst/>
              <a:ahLst/>
              <a:cxnLst/>
              <a:rect r="r" b="b" t="t" l="l"/>
              <a:pathLst>
                <a:path h="242307" w="1155096">
                  <a:moveTo>
                    <a:pt x="577548" y="0"/>
                  </a:moveTo>
                  <a:cubicBezTo>
                    <a:pt x="258577" y="0"/>
                    <a:pt x="0" y="54242"/>
                    <a:pt x="0" y="121153"/>
                  </a:cubicBezTo>
                  <a:cubicBezTo>
                    <a:pt x="0" y="188065"/>
                    <a:pt x="258577" y="242307"/>
                    <a:pt x="577548" y="242307"/>
                  </a:cubicBezTo>
                  <a:cubicBezTo>
                    <a:pt x="896519" y="242307"/>
                    <a:pt x="1155096" y="188065"/>
                    <a:pt x="1155096" y="121153"/>
                  </a:cubicBezTo>
                  <a:cubicBezTo>
                    <a:pt x="1155096" y="54242"/>
                    <a:pt x="896519" y="0"/>
                    <a:pt x="577548" y="0"/>
                  </a:cubicBezTo>
                  <a:close/>
                </a:path>
              </a:pathLst>
            </a:custGeom>
            <a:solidFill>
              <a:srgbClr val="36E9FD">
                <a:alpha val="2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8290" y="-15384"/>
              <a:ext cx="938515" cy="2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8325" y="1028700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35882" y="2871238"/>
            <a:ext cx="9176274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5882" y="4386262"/>
            <a:ext cx="9477176" cy="209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Successfully built a Loan Prediction Model.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Achieved ~79% accuracy.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Logistic Regression performed effectively.</a:t>
            </a:r>
          </a:p>
          <a:p>
            <a:pPr algn="l" marL="555638" indent="-277819" lvl="1">
              <a:lnSpc>
                <a:spcPts val="3319"/>
              </a:lnSpc>
              <a:buFont typeface="Arial"/>
              <a:buChar char="•"/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Model can assist banks in faster loan approval decisions.</a:t>
            </a:r>
          </a:p>
          <a:p>
            <a:pPr algn="l">
              <a:lnSpc>
                <a:spcPts val="33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104928" y="1599114"/>
            <a:ext cx="70568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647679">
            <a:off x="5750070" y="2254213"/>
            <a:ext cx="27455017" cy="10021081"/>
          </a:xfrm>
          <a:custGeom>
            <a:avLst/>
            <a:gdLst/>
            <a:ahLst/>
            <a:cxnLst/>
            <a:rect r="r" b="b" t="t" l="l"/>
            <a:pathLst>
              <a:path h="10021081" w="27455017">
                <a:moveTo>
                  <a:pt x="0" y="0"/>
                </a:moveTo>
                <a:lnTo>
                  <a:pt x="27455017" y="0"/>
                </a:lnTo>
                <a:lnTo>
                  <a:pt x="27455017" y="10021081"/>
                </a:lnTo>
                <a:lnTo>
                  <a:pt x="0" y="1002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161320">
            <a:off x="-5537192" y="-43296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34481" y="3487351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55863" y="4411280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92948"/>
            <a:ext cx="3462635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GitH</a:t>
            </a:r>
            <a:r>
              <a:rPr lang="en-US" b="true" sz="2799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ub Repository: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47693" y="7350479"/>
            <a:ext cx="1373213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https://github.com/Shaurya-Gundre/Loan-Status-Prediction-ML/tree/main</a:t>
            </a:r>
            <a:r>
              <a:rPr lang="en-US" b="true" sz="2000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DAHCUp8DCVc</dc:identifier>
  <dcterms:modified xsi:type="dcterms:W3CDTF">2011-08-01T06:04:30Z</dcterms:modified>
  <cp:revision>1</cp:revision>
  <dc:title>Blue Purple Gradient Tech Futuristic Artificial Intelligence Presentation</dc:title>
</cp:coreProperties>
</file>